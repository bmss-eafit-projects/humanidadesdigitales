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9" r:id="rId5"/>
    <p:sldId id="268" r:id="rId6"/>
    <p:sldId id="259" r:id="rId7"/>
    <p:sldId id="270" r:id="rId8"/>
    <p:sldId id="271" r:id="rId9"/>
    <p:sldId id="262" r:id="rId10"/>
    <p:sldId id="26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6845B-E3DB-03CF-1EA7-94FEAFD10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E4990B-B4FA-935F-AD27-65C2DD306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63274D-F1DD-2F36-AC6A-622C5D85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CE20CA-8CEB-54D3-1000-74B45D2B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88187E-E9DE-D146-B286-81C9E6BF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33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5D4FF-BB9E-3BCE-8654-ABB882F4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77F8B-BF2A-2D73-9F40-AFB150CFB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A9ED0A-454C-A80C-7B86-4F4E1283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96360-1D3F-DF72-F946-6EFBC4D3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452A4E-26BC-5DE8-CF19-D63225D6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83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F2B7A-0A22-59DB-3BD3-503CB798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6B545B-360C-05DB-BD6E-4822ED5FA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8021B3-E88C-E9CE-3838-C517B5CD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52B741-7F81-C37B-9DA3-AEDC0957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3FA33A-04D5-83BE-782A-CE958414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492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3BA87-9712-95E2-04C0-13F1208D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A555A7-7237-86F3-D255-8AE6E1628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13C9EA-9483-EA6B-1CFB-66DCD83E6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DDC52F-50E7-AD66-894D-DFB2DA3C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A255AC-0C15-DACC-E117-54719385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1786DB-6884-B681-C59E-B5D35C90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468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78784-C4AC-C596-C47C-B9E67843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21BCDC-E31B-FC3C-427C-E6655BB76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14FDFD-0842-7A92-6E53-533DA1436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289A41-99E9-B3E9-FD2B-1C53F39B4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96EE43-9068-70AB-57BA-3F1077405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C6C221-CDBD-2BB2-531F-997A0C8D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8942854-3375-32E4-1402-A0FA5BAA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0DE822-74A7-26EC-91CD-03921CB4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96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99CF-C945-5F9D-D69B-5C260315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970258-110E-04A6-0815-414E0E16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7CA90B-4C70-4AE9-F4E2-7F905E3F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E51338-0D9C-475A-0B51-F82176E6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41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39DFF-DB72-8764-4848-60096F9F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FE0F8F-F6A6-3823-22E3-ED1984D7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83EA7D-33BE-99B9-7B4D-CFDA900C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806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EBC53-65CA-B108-D0D6-515482FD2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3A1CB2-3CD6-5416-F418-21120A1DB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60A8D6-1E9F-5927-5491-BE2F0A063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70BB06-E0BF-84F6-32CB-D2C2A24A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000C2F-80E1-37BB-D40A-398B5DB7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F21C90-95C1-44AF-5A0F-2819D080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864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4D83B-2C1F-4071-6C8A-8CC6EE8D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186C7B6-C7B7-D870-9FF5-6D0CF2C6F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DF308F-1BDC-C254-E4B7-33D3F542B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44A2A4-1759-0410-CF2C-601D4F76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80F5C2-9B0D-521C-5753-118B9870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B08A27-589C-B75A-8795-7DC7A3A4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08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9EF18-141D-3789-7718-6B5FEB3F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062A86-2AF9-6DFB-79DA-190AD946B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0848A5-9143-A567-0B5C-920FC4D1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A7859A-4671-FE41-93A4-CAAA0737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63EA38-F92A-04FB-9BBB-83D6CC1A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7811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1EF665-1585-5BE6-5DBF-4E8CECAB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9EADCF-F353-52F5-CE33-A949D949C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5F98BF-DF74-182A-60D1-7062F5F4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A2E06-AE75-6509-0ED0-79756600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72E65B-6D91-7168-F92A-EB6B40B1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82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239AEC-733E-2EDF-BE45-4882BCBC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E67CA7-0AF5-DD6E-A827-5F8299C2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B0DA20-DEAD-03B4-ACE8-664C0334E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D5509-8B02-41B7-9D4E-9676ED5E67E7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558763-D8AD-C219-5786-3566FA472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6DD48B-6720-D44C-A516-F835E4C7E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5271A-6F57-436F-843F-6BED263EF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744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ED03D-45E2-0649-C730-51B4020C9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s-ES" dirty="0"/>
              <a:t>Técnicas de modelado de tópicos con Python para la exploración temática de corpus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0C0177-D6B3-E233-DD14-68B91F21F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i="1" dirty="0"/>
          </a:p>
          <a:p>
            <a:r>
              <a:rPr lang="es-ES" i="1" dirty="0"/>
              <a:t>Karen Melissa Gomez Montoya</a:t>
            </a:r>
          </a:p>
          <a:p>
            <a:r>
              <a:rPr lang="es-ES" i="1" dirty="0"/>
              <a:t>Maestría Ciencia de los Datos y Analítica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8936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C5E9F-2247-962B-DEEF-EA3A629D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Modelado de tópicos 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F2091A-8DCF-AF2A-AFDD-CDC3739FF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06000" cy="4351338"/>
          </a:xfrm>
        </p:spPr>
        <p:txBody>
          <a:bodyPr/>
          <a:lstStyle/>
          <a:p>
            <a:r>
              <a:rPr lang="es-ES" dirty="0"/>
              <a:t>Grupo de métodos que permiten minería de texto.</a:t>
            </a:r>
          </a:p>
          <a:p>
            <a:r>
              <a:rPr lang="es-ES" dirty="0"/>
              <a:t>¿De qué trata el corpus?</a:t>
            </a:r>
          </a:p>
        </p:txBody>
      </p:sp>
    </p:spTree>
    <p:extLst>
      <p:ext uri="{BB962C8B-B14F-4D97-AF65-F5344CB8AC3E}">
        <p14:creationId xmlns:p14="http://schemas.microsoft.com/office/powerpoint/2010/main" val="21006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C8A0-6761-B69A-6F6F-AF07BAFE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A7918-9AC9-9CF3-0EA6-DF51B2D5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Modelado de tópicos 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DA28F1-CA41-8514-379E-515332AD6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06000" cy="4351338"/>
          </a:xfrm>
        </p:spPr>
        <p:txBody>
          <a:bodyPr/>
          <a:lstStyle/>
          <a:p>
            <a:r>
              <a:rPr lang="es-ES" dirty="0"/>
              <a:t>Grupo de métodos que permiten minería de texto.</a:t>
            </a:r>
          </a:p>
          <a:p>
            <a:r>
              <a:rPr lang="es-ES" dirty="0"/>
              <a:t>¿De qué trata el corpus?</a:t>
            </a:r>
          </a:p>
          <a:p>
            <a:r>
              <a:rPr lang="es-ES" dirty="0"/>
              <a:t>Lectura distante vs lectura cercana</a:t>
            </a:r>
          </a:p>
        </p:txBody>
      </p:sp>
    </p:spTree>
    <p:extLst>
      <p:ext uri="{BB962C8B-B14F-4D97-AF65-F5344CB8AC3E}">
        <p14:creationId xmlns:p14="http://schemas.microsoft.com/office/powerpoint/2010/main" val="179938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E143-72F5-7E81-BE85-40E6324B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55E49-8376-D8BC-9CCE-B88B9DC2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Modelado de tópicos 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FF7C60-BB57-3E1A-F1EA-FA14A65E5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06000" cy="4351338"/>
          </a:xfrm>
        </p:spPr>
        <p:txBody>
          <a:bodyPr/>
          <a:lstStyle/>
          <a:p>
            <a:r>
              <a:rPr lang="es-ES" dirty="0"/>
              <a:t>Grupo de métodos que permiten minería de texto.</a:t>
            </a:r>
          </a:p>
          <a:p>
            <a:r>
              <a:rPr lang="es-ES" dirty="0"/>
              <a:t>¿De qué trata el corpus?</a:t>
            </a:r>
          </a:p>
          <a:p>
            <a:r>
              <a:rPr lang="es-ES" dirty="0"/>
              <a:t>Lectura distante vs lectura cercana</a:t>
            </a:r>
          </a:p>
          <a:p>
            <a:r>
              <a:rPr lang="es-ES" dirty="0"/>
              <a:t>¿Un tópico es un tema?</a:t>
            </a:r>
          </a:p>
        </p:txBody>
      </p:sp>
    </p:spTree>
    <p:extLst>
      <p:ext uri="{BB962C8B-B14F-4D97-AF65-F5344CB8AC3E}">
        <p14:creationId xmlns:p14="http://schemas.microsoft.com/office/powerpoint/2010/main" val="3786691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7B6A-0EC2-6D43-6FE3-A9F4FC87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4E29C-AE9A-5F66-E3C4-7B3D49A6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Modelado de tópicos 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617B2C-678E-7EBE-F184-523358C4E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06000" cy="4351338"/>
          </a:xfrm>
        </p:spPr>
        <p:txBody>
          <a:bodyPr/>
          <a:lstStyle/>
          <a:p>
            <a:r>
              <a:rPr lang="es-ES" dirty="0"/>
              <a:t>Grupo de métodos que permiten minería de texto.</a:t>
            </a:r>
          </a:p>
          <a:p>
            <a:r>
              <a:rPr lang="es-ES" dirty="0"/>
              <a:t>¿De qué trata el corpus?</a:t>
            </a:r>
          </a:p>
          <a:p>
            <a:r>
              <a:rPr lang="es-ES" dirty="0"/>
              <a:t>Lectura distante vs lectura cercana</a:t>
            </a:r>
          </a:p>
          <a:p>
            <a:r>
              <a:rPr lang="es-ES" dirty="0"/>
              <a:t>¿Un tópico es un tema?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428BEF-4034-A345-FE1B-B3A0F32CB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14131"/>
            <a:ext cx="3779171" cy="23977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8D471C3-17E0-A316-14A6-DC2D96A97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865" y="3914130"/>
            <a:ext cx="3732242" cy="239776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2524FF1-7D43-63CF-2C7C-FC6470D58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034" y="4001294"/>
            <a:ext cx="2372056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645BF3A-9333-F6B4-1A04-0C97B8CB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77202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Modelado de tópicos 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69428D8-353D-B119-B0C4-7C1EC7B36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1653137"/>
            <a:ext cx="5181600" cy="4486275"/>
          </a:xfrm>
        </p:spPr>
        <p:txBody>
          <a:bodyPr>
            <a:normAutofit/>
          </a:bodyPr>
          <a:lstStyle/>
          <a:p>
            <a:r>
              <a:rPr lang="es-ES" dirty="0"/>
              <a:t>LDA (</a:t>
            </a:r>
            <a:r>
              <a:rPr lang="es-ES" dirty="0" err="1"/>
              <a:t>Latent</a:t>
            </a:r>
            <a:r>
              <a:rPr lang="es-ES" dirty="0"/>
              <a:t> Dirichlet </a:t>
            </a:r>
            <a:r>
              <a:rPr lang="es-ES" dirty="0" err="1"/>
              <a:t>Allocation</a:t>
            </a:r>
            <a:r>
              <a:rPr lang="es-ES" dirty="0"/>
              <a:t>):</a:t>
            </a:r>
          </a:p>
          <a:p>
            <a:endParaRPr lang="es-ES" dirty="0"/>
          </a:p>
          <a:p>
            <a:pPr lvl="1"/>
            <a:r>
              <a:rPr lang="es-ES" dirty="0"/>
              <a:t>Basado en probabilidades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2003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Menos interpretable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CCEE53DE-A634-F13A-94EA-B5CBCBF7323B}"/>
              </a:ext>
            </a:extLst>
          </p:cNvPr>
          <p:cNvSpPr txBox="1">
            <a:spLocks/>
          </p:cNvSpPr>
          <p:nvPr/>
        </p:nvSpPr>
        <p:spPr>
          <a:xfrm>
            <a:off x="6057900" y="1602765"/>
            <a:ext cx="51816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BERTopic</a:t>
            </a:r>
            <a:r>
              <a:rPr lang="es-ES" dirty="0"/>
              <a:t>:</a:t>
            </a:r>
          </a:p>
          <a:p>
            <a:endParaRPr lang="es-ES" dirty="0"/>
          </a:p>
          <a:p>
            <a:pPr lvl="1"/>
            <a:r>
              <a:rPr lang="es-ES" dirty="0" err="1"/>
              <a:t>Embeddings</a:t>
            </a:r>
            <a:r>
              <a:rPr lang="es-ES" dirty="0"/>
              <a:t> semánticos y </a:t>
            </a:r>
            <a:r>
              <a:rPr lang="es-ES" dirty="0" err="1"/>
              <a:t>clustering</a:t>
            </a:r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2020</a:t>
            </a:r>
          </a:p>
          <a:p>
            <a:pPr marL="457200" lvl="1" indent="0">
              <a:buNone/>
            </a:pP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62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27D6C-5290-BA67-186D-C0375DE12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F4FB03C-1905-A3F9-FB62-BC1F05D2BE3D}"/>
              </a:ext>
            </a:extLst>
          </p:cNvPr>
          <p:cNvSpPr/>
          <p:nvPr/>
        </p:nvSpPr>
        <p:spPr>
          <a:xfrm>
            <a:off x="4617897" y="1601610"/>
            <a:ext cx="1766136" cy="3128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222A35"/>
                </a:solidFill>
                <a:latin typeface="Montserrat" panose="00000500000000000000" pitchFamily="2" charset="0"/>
              </a:rPr>
              <a:t>Modelo generador de </a:t>
            </a:r>
            <a:r>
              <a:rPr lang="es-ES" dirty="0" err="1">
                <a:solidFill>
                  <a:srgbClr val="222A35"/>
                </a:solidFill>
                <a:latin typeface="Montserrat" panose="00000500000000000000" pitchFamily="2" charset="0"/>
              </a:rPr>
              <a:t>embeddings</a:t>
            </a:r>
            <a:endParaRPr lang="es-ES" dirty="0">
              <a:solidFill>
                <a:srgbClr val="222A35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02CC1204-9CB0-D726-0A2D-34BC36E181F5}"/>
              </a:ext>
            </a:extLst>
          </p:cNvPr>
          <p:cNvSpPr txBox="1"/>
          <p:nvPr/>
        </p:nvSpPr>
        <p:spPr>
          <a:xfrm>
            <a:off x="2195152" y="1471503"/>
            <a:ext cx="1531286" cy="3878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Palabra 1</a:t>
            </a:r>
          </a:p>
          <a:p>
            <a:pPr algn="l">
              <a:lnSpc>
                <a:spcPts val="3359"/>
              </a:lnSpc>
            </a:pPr>
            <a:endParaRPr lang="es-ES" sz="2000" dirty="0">
              <a:solidFill>
                <a:srgbClr val="222A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Palabra 2</a:t>
            </a:r>
          </a:p>
          <a:p>
            <a:pPr algn="l">
              <a:lnSpc>
                <a:spcPts val="3359"/>
              </a:lnSpc>
            </a:pPr>
            <a:endParaRPr lang="es-ES" sz="2000" dirty="0">
              <a:solidFill>
                <a:srgbClr val="222A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3359"/>
              </a:lnSpc>
            </a:pPr>
            <a:endParaRPr lang="es-ES" sz="2000" dirty="0">
              <a:solidFill>
                <a:srgbClr val="222A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Palabra n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8B33965C-3BD3-3708-8573-BBCEC0C03562}"/>
              </a:ext>
            </a:extLst>
          </p:cNvPr>
          <p:cNvSpPr txBox="1"/>
          <p:nvPr/>
        </p:nvSpPr>
        <p:spPr>
          <a:xfrm>
            <a:off x="7715432" y="1481705"/>
            <a:ext cx="2784540" cy="3878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[0.5,  -0.6, … ,0.12]</a:t>
            </a:r>
          </a:p>
          <a:p>
            <a:pPr algn="l">
              <a:lnSpc>
                <a:spcPts val="3359"/>
              </a:lnSpc>
            </a:pPr>
            <a:endParaRPr lang="es-ES" sz="2000" dirty="0">
              <a:solidFill>
                <a:srgbClr val="222A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[0.2,  -0.1, … ,0.25]</a:t>
            </a:r>
          </a:p>
          <a:p>
            <a:pPr>
              <a:lnSpc>
                <a:spcPts val="3359"/>
              </a:lnSpc>
            </a:pPr>
            <a:endParaRPr lang="es-ES" sz="2000" dirty="0">
              <a:solidFill>
                <a:srgbClr val="222A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>
              <a:lnSpc>
                <a:spcPts val="3359"/>
              </a:lnSpc>
            </a:pPr>
            <a:endParaRPr lang="es-ES" sz="2000" dirty="0">
              <a:solidFill>
                <a:srgbClr val="222A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3359"/>
              </a:lnSpc>
            </a:pPr>
            <a:r>
              <a:rPr lang="es-ES" sz="200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[-0.12,  -0.30, … ,0.96]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12CF02C9-3A63-9A36-5812-DC1D6E94BC9D}"/>
              </a:ext>
            </a:extLst>
          </p:cNvPr>
          <p:cNvSpPr/>
          <p:nvPr/>
        </p:nvSpPr>
        <p:spPr>
          <a:xfrm>
            <a:off x="3744713" y="3051307"/>
            <a:ext cx="747368" cy="438870"/>
          </a:xfrm>
          <a:prstGeom prst="rightArrow">
            <a:avLst/>
          </a:prstGeom>
          <a:solidFill>
            <a:srgbClr val="37A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9621C464-C3EC-48A1-269E-F451888FC5F1}"/>
              </a:ext>
            </a:extLst>
          </p:cNvPr>
          <p:cNvSpPr/>
          <p:nvPr/>
        </p:nvSpPr>
        <p:spPr>
          <a:xfrm>
            <a:off x="6635666" y="3103394"/>
            <a:ext cx="747368" cy="438870"/>
          </a:xfrm>
          <a:prstGeom prst="rightArrow">
            <a:avLst/>
          </a:prstGeom>
          <a:solidFill>
            <a:srgbClr val="37A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5BA93556-7C7E-76F8-1DF0-6A79703AD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360877" cy="857006"/>
          </a:xfrm>
        </p:spPr>
        <p:txBody>
          <a:bodyPr/>
          <a:lstStyle/>
          <a:p>
            <a:r>
              <a:rPr lang="es-ES" dirty="0" err="1"/>
              <a:t>Embeddings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266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5280-5BF9-E1FF-CA80-E90DE8A0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9D18CF0-8FA8-3110-0AE3-7182CFF4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53" y="245223"/>
            <a:ext cx="9360877" cy="857006"/>
          </a:xfrm>
        </p:spPr>
        <p:txBody>
          <a:bodyPr/>
          <a:lstStyle/>
          <a:p>
            <a:r>
              <a:rPr lang="es-ES" dirty="0" err="1"/>
              <a:t>Embeddings</a:t>
            </a:r>
            <a:endParaRPr lang="es-ES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A9A6F730-3E5A-080F-5185-C0E6BC90FA9E}"/>
              </a:ext>
            </a:extLst>
          </p:cNvPr>
          <p:cNvCxnSpPr/>
          <p:nvPr/>
        </p:nvCxnSpPr>
        <p:spPr>
          <a:xfrm flipV="1">
            <a:off x="2456157" y="1529863"/>
            <a:ext cx="0" cy="4648200"/>
          </a:xfrm>
          <a:prstGeom prst="straightConnector1">
            <a:avLst/>
          </a:prstGeom>
          <a:ln w="38100">
            <a:solidFill>
              <a:srgbClr val="222A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FCADF129-5A94-5F37-674D-C638B622AEB3}"/>
              </a:ext>
            </a:extLst>
          </p:cNvPr>
          <p:cNvCxnSpPr>
            <a:cxnSpLocks/>
          </p:cNvCxnSpPr>
          <p:nvPr/>
        </p:nvCxnSpPr>
        <p:spPr>
          <a:xfrm>
            <a:off x="2456157" y="6178063"/>
            <a:ext cx="5638800" cy="0"/>
          </a:xfrm>
          <a:prstGeom prst="straightConnector1">
            <a:avLst/>
          </a:prstGeom>
          <a:ln w="38100">
            <a:solidFill>
              <a:srgbClr val="222A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B3C0018-58FA-BA43-E9B9-252D43A3AB7D}"/>
              </a:ext>
            </a:extLst>
          </p:cNvPr>
          <p:cNvSpPr/>
          <p:nvPr/>
        </p:nvSpPr>
        <p:spPr>
          <a:xfrm>
            <a:off x="3877379" y="299782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D6E8F08-2455-23B8-1989-48971C66A8EF}"/>
              </a:ext>
            </a:extLst>
          </p:cNvPr>
          <p:cNvSpPr/>
          <p:nvPr/>
        </p:nvSpPr>
        <p:spPr>
          <a:xfrm>
            <a:off x="4437357" y="260149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47A4971-DDEE-4FA9-0EF0-90DD9A012E27}"/>
              </a:ext>
            </a:extLst>
          </p:cNvPr>
          <p:cNvSpPr/>
          <p:nvPr/>
        </p:nvSpPr>
        <p:spPr>
          <a:xfrm>
            <a:off x="7028157" y="392064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E9C8904A-02D2-3E9D-2B9B-78604AC74EA7}"/>
              </a:ext>
            </a:extLst>
          </p:cNvPr>
          <p:cNvSpPr txBox="1"/>
          <p:nvPr/>
        </p:nvSpPr>
        <p:spPr>
          <a:xfrm>
            <a:off x="4274118" y="2196194"/>
            <a:ext cx="1689650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s-ES" sz="2800" noProof="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Café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EE060E-3BC0-2361-69F0-5CEA5D175212}"/>
              </a:ext>
            </a:extLst>
          </p:cNvPr>
          <p:cNvSpPr txBox="1"/>
          <p:nvPr/>
        </p:nvSpPr>
        <p:spPr>
          <a:xfrm>
            <a:off x="2608557" y="3207317"/>
            <a:ext cx="1689650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s-ES" sz="2800" noProof="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Taza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AD280918-99DD-BA9A-8500-1B40F5101A8F}"/>
              </a:ext>
            </a:extLst>
          </p:cNvPr>
          <p:cNvSpPr txBox="1"/>
          <p:nvPr/>
        </p:nvSpPr>
        <p:spPr>
          <a:xfrm>
            <a:off x="6807815" y="3541842"/>
            <a:ext cx="2582542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s-ES" sz="2800" noProof="0" dirty="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Sopa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0660798-BC67-DE90-A89E-3A58C4CCD07F}"/>
              </a:ext>
            </a:extLst>
          </p:cNvPr>
          <p:cNvCxnSpPr>
            <a:cxnSpLocks/>
            <a:stCxn id="4" idx="7"/>
            <a:endCxn id="5" idx="3"/>
          </p:cNvCxnSpPr>
          <p:nvPr/>
        </p:nvCxnSpPr>
        <p:spPr>
          <a:xfrm flipV="1">
            <a:off x="4000291" y="2724406"/>
            <a:ext cx="458154" cy="29450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4BA2A64-84DF-36D4-8AFA-5858377E0655}"/>
              </a:ext>
            </a:extLst>
          </p:cNvPr>
          <p:cNvCxnSpPr>
            <a:cxnSpLocks/>
            <a:stCxn id="7" idx="6"/>
            <a:endCxn id="5" idx="5"/>
          </p:cNvCxnSpPr>
          <p:nvPr/>
        </p:nvCxnSpPr>
        <p:spPr>
          <a:xfrm flipH="1" flipV="1">
            <a:off x="4560269" y="2724406"/>
            <a:ext cx="2611888" cy="126823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2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F8680-D174-CE31-DD2B-51973DBD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5EB7AA-57CE-13F5-3F28-89F94A9CF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486275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Sobre el corpus:</a:t>
            </a:r>
          </a:p>
          <a:p>
            <a:endParaRPr lang="es-ES" dirty="0"/>
          </a:p>
          <a:p>
            <a:pPr lvl="1"/>
            <a:r>
              <a:rPr lang="es-ES" dirty="0"/>
              <a:t>Columnas de opinión de 2 periódicos colombianos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Noviembre y diciembre de 2019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681 textos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411 mil palabras en total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173 mil palabras luego de limpieza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E8E368-27D0-F2DC-375C-2FCDC1A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486275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Etapas:</a:t>
            </a:r>
          </a:p>
          <a:p>
            <a:endParaRPr lang="es-ES" dirty="0"/>
          </a:p>
          <a:p>
            <a:pPr marL="914400" lvl="1" indent="-457200">
              <a:buAutoNum type="arabicPeriod"/>
            </a:pPr>
            <a:r>
              <a:rPr lang="es-ES" dirty="0"/>
              <a:t>Leer el </a:t>
            </a:r>
            <a:r>
              <a:rPr lang="es-ES" dirty="0" err="1"/>
              <a:t>dataset</a:t>
            </a:r>
            <a:r>
              <a:rPr lang="es-ES" dirty="0"/>
              <a:t> </a:t>
            </a:r>
          </a:p>
          <a:p>
            <a:pPr marL="914400" lvl="1" indent="-457200">
              <a:buAutoNum type="arabicPeriod"/>
            </a:pPr>
            <a:endParaRPr lang="es-ES" dirty="0"/>
          </a:p>
          <a:p>
            <a:pPr marL="914400" lvl="1" indent="-457200">
              <a:buAutoNum type="arabicPeriod"/>
            </a:pPr>
            <a:r>
              <a:rPr lang="es-ES" dirty="0"/>
              <a:t>Limpieza texto </a:t>
            </a:r>
          </a:p>
          <a:p>
            <a:pPr marL="914400" lvl="1" indent="-457200">
              <a:buAutoNum type="arabicPeriod"/>
            </a:pPr>
            <a:endParaRPr lang="es-ES" dirty="0"/>
          </a:p>
          <a:p>
            <a:pPr marL="914400" lvl="1" indent="-457200">
              <a:buAutoNum type="arabicPeriod"/>
            </a:pPr>
            <a:r>
              <a:rPr lang="es-ES" dirty="0"/>
              <a:t>Exploración del texto con nube de palabras</a:t>
            </a:r>
          </a:p>
          <a:p>
            <a:pPr marL="914400" lvl="1" indent="-457200">
              <a:buAutoNum type="arabicPeriod"/>
            </a:pPr>
            <a:endParaRPr lang="es-ES" dirty="0"/>
          </a:p>
          <a:p>
            <a:pPr marL="914400" lvl="1" indent="-457200">
              <a:buAutoNum type="arabicPeriod"/>
            </a:pPr>
            <a:r>
              <a:rPr lang="es-ES" dirty="0"/>
              <a:t>Aplicar algoritmo de modelado </a:t>
            </a:r>
          </a:p>
          <a:p>
            <a:pPr marL="914400" lvl="1" indent="-457200">
              <a:buAutoNum type="arabicPeriod"/>
            </a:pPr>
            <a:endParaRPr lang="es-ES" dirty="0"/>
          </a:p>
          <a:p>
            <a:pPr marL="914400" lvl="1" indent="-457200">
              <a:buAutoNum type="arabicPeriod"/>
            </a:pPr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573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BFD1F-AE91-7EB8-93DA-BB108E0A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3524" y="1087071"/>
            <a:ext cx="4204139" cy="1325563"/>
          </a:xfrm>
        </p:spPr>
        <p:txBody>
          <a:bodyPr/>
          <a:lstStyle/>
          <a:p>
            <a:pPr algn="ctr"/>
            <a:r>
              <a:rPr lang="es-ES" dirty="0"/>
              <a:t>¡Muchas gracias!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50C2992-A82D-B46B-C1D8-11B911FB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6" y="1087071"/>
            <a:ext cx="951672" cy="786033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DD5291C-EF9E-3826-CAB9-716A49B2D9DD}"/>
              </a:ext>
            </a:extLst>
          </p:cNvPr>
          <p:cNvSpPr txBox="1">
            <a:spLocks/>
          </p:cNvSpPr>
          <p:nvPr/>
        </p:nvSpPr>
        <p:spPr>
          <a:xfrm>
            <a:off x="1647478" y="1224920"/>
            <a:ext cx="4204139" cy="510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dirty="0"/>
              <a:t>Demo modelado de tópicos</a:t>
            </a:r>
          </a:p>
        </p:txBody>
      </p:sp>
      <p:pic>
        <p:nvPicPr>
          <p:cNvPr id="13" name="Imagen 12" descr="Código QR&#10;&#10;El contenido generado por IA puede ser incorrecto.">
            <a:extLst>
              <a:ext uri="{FF2B5EF4-FFF2-40B4-BE49-F238E27FC236}">
                <a16:creationId xmlns:a16="http://schemas.microsoft.com/office/drawing/2014/main" id="{E7C47253-0268-FD96-17A1-C8587BAD7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76" y="1873103"/>
            <a:ext cx="3979985" cy="3979985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898FA41A-8CCF-EE19-7EAC-52366CD00D82}"/>
              </a:ext>
            </a:extLst>
          </p:cNvPr>
          <p:cNvSpPr txBox="1">
            <a:spLocks/>
          </p:cNvSpPr>
          <p:nvPr/>
        </p:nvSpPr>
        <p:spPr>
          <a:xfrm>
            <a:off x="6793525" y="3863095"/>
            <a:ext cx="4204139" cy="1907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dirty="0"/>
              <a:t>Mi contacto: </a:t>
            </a:r>
          </a:p>
          <a:p>
            <a:pPr algn="ctr"/>
            <a:endParaRPr lang="es-ES" sz="2800" dirty="0"/>
          </a:p>
          <a:p>
            <a:pPr algn="ctr"/>
            <a:r>
              <a:rPr lang="es-ES" sz="2800" dirty="0"/>
              <a:t>kmgomezm@eafit.edu.co</a:t>
            </a:r>
          </a:p>
        </p:txBody>
      </p:sp>
    </p:spTree>
    <p:extLst>
      <p:ext uri="{BB962C8B-B14F-4D97-AF65-F5344CB8AC3E}">
        <p14:creationId xmlns:p14="http://schemas.microsoft.com/office/powerpoint/2010/main" val="31239833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268</Words>
  <Application>Microsoft Office PowerPoint</Application>
  <PresentationFormat>Panorámica</PresentationFormat>
  <Paragraphs>90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Montserrat</vt:lpstr>
      <vt:lpstr>Tema de Office</vt:lpstr>
      <vt:lpstr>Técnicas de modelado de tópicos con Python para la exploración temática de corpus </vt:lpstr>
      <vt:lpstr>Modelado de tópicos </vt:lpstr>
      <vt:lpstr>Modelado de tópicos </vt:lpstr>
      <vt:lpstr>Modelado de tópicos </vt:lpstr>
      <vt:lpstr>Modelado de tópicos </vt:lpstr>
      <vt:lpstr>Modelado de tópicos </vt:lpstr>
      <vt:lpstr>Embeddings</vt:lpstr>
      <vt:lpstr>Embeddings</vt:lpstr>
      <vt:lpstr>Demo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Karen Melissa Gomez Montoya</dc:creator>
  <cp:lastModifiedBy>Karen Melissa Gomez Montoya</cp:lastModifiedBy>
  <cp:revision>4</cp:revision>
  <dcterms:created xsi:type="dcterms:W3CDTF">2025-11-13T11:33:48Z</dcterms:created>
  <dcterms:modified xsi:type="dcterms:W3CDTF">2025-11-13T16:07:51Z</dcterms:modified>
</cp:coreProperties>
</file>